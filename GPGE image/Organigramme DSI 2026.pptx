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5989A7-70C9-1809-FBAD-1F816A19F148}" v="14" dt="2026-05-05T14:55:38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82" y="2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5A982-AB34-0836-8F44-E786F8ACB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BFA126-D51E-FF4B-3EFA-15EBC99C3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3B8026-8D29-2845-3F7D-74A0588B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77ABF-367F-3F0C-5545-972A1A78D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58C0FB-813D-9279-8734-E2D4FB36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453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DBEC1-CDBB-D27C-5E89-2FD410D0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FB602D-C9A8-87AB-B1A4-709EB2138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894FC-B236-7274-9F2E-0F056D34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C1533B-1736-7725-82B7-93264231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6A5D49-189C-EDF6-3114-D42C6B12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35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158C2-4A65-98DA-269C-8152085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6C5A8E-DF77-2B9B-7943-E879B3395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3FC6C4-82AE-7D1D-5711-AC951B96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37CB90-06EE-2FCF-B001-52CCD1CA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9041A3-C136-2153-11ED-CFED7E94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28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209BAA-4D44-4E4D-01C5-47C7FF10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BC82C9-99C4-F321-1C50-0091EEEF8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2FC4A4-3741-21FC-8B91-C27B17E01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6D9A05-17C6-BAA7-AC1C-5CB31554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5B1AF4-1E8A-0BC7-99CF-6659EB1A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C7866E-79AD-1F81-C1CB-D42636A3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520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645EB-C265-ACAD-7098-0D11DA1C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C15195-E021-94E8-8198-9D794F74E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85F6BB-D866-F73A-D64B-14B9F26EB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11A23E5-8E69-C3CB-6AEC-B51C6C1B0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049E75A-1AD1-2107-9F4E-2C4BBA3BF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747457-B3D8-5874-F2D2-92C29C971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8F5ABBC-C9A0-CC6B-8309-09AD142D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616487-7A64-DE34-A59C-1ACA5E0B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68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43E6F-8AEE-5A7F-029B-229CE6D0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B5AE11A-9468-FE11-7AC7-E79C60E8E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ACD8CA-2F65-51CB-7FB1-46F63B2E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E29FF5-5194-71B1-91D8-81D0BC5E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19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A6CD824-2A28-1122-F8DF-0FC24BAF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F5F264-6918-A535-7FC6-8238C7E3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7FAA2B-6FEE-6196-D8D4-425B29A7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82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3B9A01-82DE-7AA6-8039-C3A087DC6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465878-8FF1-984D-E20D-E9DADBB31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D0BF6D-7935-6481-BFCF-65F55F45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DE41FC-55C7-7024-61DD-DFD2FB69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39734D-94D9-7210-555C-0820922C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4CFFA2-62DA-8B30-7EAB-2AD08C18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54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601014-DEB0-FD27-EEB5-93D52D6E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9B0338-5B7A-BC9B-D1E5-2B1E4F745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640FA2-78F1-F657-35A4-E75DE4803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B57359-8CFF-EE65-0262-8AA9B9164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9BBBD2-1609-EC03-B587-344BBB1D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667BD9-0BDF-3BB5-B17E-29B23403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07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F0E50-849F-7A47-EBBF-4CADBAC5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C9D49A-64C6-5462-42AB-5958B5A7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002E81-6E61-A264-D599-072E9CD7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F33388-53B3-8EF7-26BD-CD43CE74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BB499E-786A-FCA6-979E-EC94A8F4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04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CFBF3F-545D-C4FA-5D55-97FE20E71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B0AC14-F622-26ED-EA58-686F7AA3C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F2FAC9-A026-B38E-A8B2-162EF04F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2E2508-DC89-B24F-9022-BD7F8F3E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10346-C770-1913-B103-F1DF7904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41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e du titre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Texte du titre</a:t>
            </a:r>
          </a:p>
        </p:txBody>
      </p:sp>
      <p:sp>
        <p:nvSpPr>
          <p:cNvPr id="30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1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1678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7F1D387-AAF2-B245-E2A3-800E038B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6503AB-584A-366D-F610-D7E41C8BA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FF7B01-5B1A-D01B-3602-0AFE990DF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84C29-3BDB-40A5-B9AC-C7C17B0EF45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75B0EE-4A48-3891-B3D4-3524D8EE1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B43DAA-4D8D-6140-C8AC-645DD0342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E255A-238C-4DA7-BEFA-9EE911E9A7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46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file:////Volumes/SAUVEGARDE%20DO/EN%20COURS%20BB/241015_6016_GPGE_PLAN_COM_CHARTE_GRAPHIQUE/GPGE-CHARTE-GRAPHIQUE/00_DOSSIER_DE_TRAVAIL/ELEMENTS%20CHARTE/GPGE_FOND_PRES.jp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>
            <a:spLocks noGrp="1"/>
          </p:cNvSpPr>
          <p:nvPr>
            <p:ph type="title"/>
          </p:nvPr>
        </p:nvSpPr>
        <p:spPr>
          <a:xfrm>
            <a:off x="557700" y="93840"/>
            <a:ext cx="10515601" cy="760754"/>
          </a:xfrm>
          <a:prstGeom prst="rect">
            <a:avLst/>
          </a:prstGeom>
        </p:spPr>
        <p:txBody>
          <a:bodyPr/>
          <a:lstStyle>
            <a:lvl1pPr defTabSz="859536">
              <a:defRPr sz="4136" b="1">
                <a:solidFill>
                  <a:srgbClr val="1D428A"/>
                </a:solidFill>
                <a:latin typeface="Futura PT Book"/>
                <a:ea typeface="Futura PT Book"/>
                <a:cs typeface="Futura PT Book"/>
                <a:sym typeface="Futura PT Book"/>
              </a:defRPr>
            </a:lvl1pPr>
          </a:lstStyle>
          <a:p>
            <a:r>
              <a:rPr lang="fr-FR" b="0" dirty="0">
                <a:solidFill>
                  <a:srgbClr val="3240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Organigramme de la DSI 2026</a:t>
            </a:r>
            <a:endParaRPr b="0" dirty="0">
              <a:solidFill>
                <a:srgbClr val="3240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F43FDCE-1A54-61C7-72D5-0BD37F52B053}"/>
              </a:ext>
            </a:extLst>
          </p:cNvPr>
          <p:cNvPicPr/>
          <p:nvPr/>
        </p:nvPicPr>
        <p:blipFill>
          <a:blip r:embed="rId2" r:link="rId3"/>
          <a:srcRect/>
          <a:stretch>
            <a:fillRect/>
          </a:stretch>
        </p:blipFill>
        <p:spPr>
          <a:xfrm>
            <a:off x="0" y="-2553"/>
            <a:ext cx="335360" cy="6959945"/>
          </a:xfrm>
          <a:prstGeom prst="rect">
            <a:avLst/>
          </a:prstGeom>
        </p:spPr>
      </p:pic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86CEEE49-C76C-E6B3-F7FA-EB10C1FC60CE}"/>
              </a:ext>
            </a:extLst>
          </p:cNvPr>
          <p:cNvSpPr/>
          <p:nvPr/>
        </p:nvSpPr>
        <p:spPr>
          <a:xfrm>
            <a:off x="5136987" y="899487"/>
            <a:ext cx="3085104" cy="1219072"/>
          </a:xfrm>
          <a:custGeom>
            <a:avLst/>
            <a:gdLst>
              <a:gd name="connsiteX0" fmla="*/ 0 w 2857965"/>
              <a:gd name="connsiteY0" fmla="*/ 0 h 444762"/>
              <a:gd name="connsiteX1" fmla="*/ 2857965 w 2857965"/>
              <a:gd name="connsiteY1" fmla="*/ 0 h 444762"/>
              <a:gd name="connsiteX2" fmla="*/ 2857965 w 2857965"/>
              <a:gd name="connsiteY2" fmla="*/ 444762 h 444762"/>
              <a:gd name="connsiteX3" fmla="*/ 0 w 2857965"/>
              <a:gd name="connsiteY3" fmla="*/ 444762 h 444762"/>
              <a:gd name="connsiteX4" fmla="*/ 0 w 2857965"/>
              <a:gd name="connsiteY4" fmla="*/ 0 h 444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965" h="444762">
                <a:moveTo>
                  <a:pt x="0" y="0"/>
                </a:moveTo>
                <a:lnTo>
                  <a:pt x="2857965" y="0"/>
                </a:lnTo>
                <a:lnTo>
                  <a:pt x="2857965" y="444762"/>
                </a:lnTo>
                <a:lnTo>
                  <a:pt x="0" y="444762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Directeur des Systèmes d’Information</a:t>
            </a:r>
          </a:p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Sébastien LEFRANC</a:t>
            </a:r>
          </a:p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Contractuel (A)</a:t>
            </a:r>
          </a:p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DAFB3E-A406-AA04-B5D9-FF56C682003F}"/>
              </a:ext>
            </a:extLst>
          </p:cNvPr>
          <p:cNvSpPr/>
          <p:nvPr/>
        </p:nvSpPr>
        <p:spPr>
          <a:xfrm>
            <a:off x="2077304" y="1133357"/>
            <a:ext cx="1787236" cy="999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algn="ctr" defTabSz="444500" hangingPunct="1">
              <a:spcBef>
                <a:spcPct val="0"/>
              </a:spcBef>
            </a:pPr>
            <a:r>
              <a:rPr lang="fr-FR" sz="1300" b="1" kern="1200" dirty="0">
                <a:solidFill>
                  <a:sysClr val="windowText" lastClr="000000"/>
                </a:solidFill>
                <a:latin typeface="Calibri" panose="020F0502020204030204"/>
              </a:rPr>
              <a:t>Assistante de direction</a:t>
            </a:r>
          </a:p>
          <a:p>
            <a:pPr algn="ctr" defTabSz="444500" hangingPunct="1">
              <a:spcBef>
                <a:spcPct val="0"/>
              </a:spcBef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Jenny CELESTE</a:t>
            </a:r>
          </a:p>
          <a:p>
            <a:pPr algn="ctr" defTabSz="444500" hangingPunct="1">
              <a:spcBef>
                <a:spcPct val="0"/>
              </a:spcBef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Titulaire (C)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34E0F43-C419-A8BA-CC64-B5ED1E1973BE}"/>
              </a:ext>
            </a:extLst>
          </p:cNvPr>
          <p:cNvCxnSpPr/>
          <p:nvPr/>
        </p:nvCxnSpPr>
        <p:spPr>
          <a:xfrm>
            <a:off x="3864540" y="1643414"/>
            <a:ext cx="127244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rme libre : forme 90">
            <a:extLst>
              <a:ext uri="{FF2B5EF4-FFF2-40B4-BE49-F238E27FC236}">
                <a16:creationId xmlns:a16="http://schemas.microsoft.com/office/drawing/2014/main" id="{E50B9CE7-CA4C-EC15-58AE-BA2D433F8844}"/>
              </a:ext>
            </a:extLst>
          </p:cNvPr>
          <p:cNvSpPr/>
          <p:nvPr/>
        </p:nvSpPr>
        <p:spPr>
          <a:xfrm>
            <a:off x="3893914" y="4309038"/>
            <a:ext cx="2446806" cy="954256"/>
          </a:xfrm>
          <a:custGeom>
            <a:avLst/>
            <a:gdLst>
              <a:gd name="connsiteX0" fmla="*/ 0 w 1525616"/>
              <a:gd name="connsiteY0" fmla="*/ 0 h 459786"/>
              <a:gd name="connsiteX1" fmla="*/ 1525616 w 1525616"/>
              <a:gd name="connsiteY1" fmla="*/ 0 h 459786"/>
              <a:gd name="connsiteX2" fmla="*/ 1525616 w 1525616"/>
              <a:gd name="connsiteY2" fmla="*/ 459786 h 459786"/>
              <a:gd name="connsiteX3" fmla="*/ 0 w 1525616"/>
              <a:gd name="connsiteY3" fmla="*/ 459786 h 459786"/>
              <a:gd name="connsiteX4" fmla="*/ 0 w 1525616"/>
              <a:gd name="connsiteY4" fmla="*/ 0 h 45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616" h="459786">
                <a:moveTo>
                  <a:pt x="0" y="0"/>
                </a:moveTo>
                <a:lnTo>
                  <a:pt x="1525616" y="0"/>
                </a:lnTo>
                <a:lnTo>
                  <a:pt x="1525616" y="459786"/>
                </a:lnTo>
                <a:lnTo>
                  <a:pt x="0" y="459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Responsable d’Unité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1200" dirty="0">
                <a:solidFill>
                  <a:sysClr val="windowText" lastClr="000000"/>
                </a:solidFill>
                <a:latin typeface="Calibri" panose="020F0502020204030204"/>
              </a:rPr>
              <a:t>Infrastructure et Exploitation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 FERRADJI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Contractuel (B)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1F39829-D6A1-33CD-EA30-182C2BD5AADE}"/>
              </a:ext>
            </a:extLst>
          </p:cNvPr>
          <p:cNvCxnSpPr>
            <a:cxnSpLocks/>
          </p:cNvCxnSpPr>
          <p:nvPr/>
        </p:nvCxnSpPr>
        <p:spPr>
          <a:xfrm flipV="1">
            <a:off x="3094673" y="2309456"/>
            <a:ext cx="7420331" cy="59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6A126FE-3936-E31A-8200-3642651879F3}"/>
              </a:ext>
            </a:extLst>
          </p:cNvPr>
          <p:cNvCxnSpPr>
            <a:cxnSpLocks/>
          </p:cNvCxnSpPr>
          <p:nvPr/>
        </p:nvCxnSpPr>
        <p:spPr>
          <a:xfrm>
            <a:off x="10519337" y="2309456"/>
            <a:ext cx="0" cy="13559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C4EED1B-BD81-AB7B-1F6E-FE75569C343D}"/>
              </a:ext>
            </a:extLst>
          </p:cNvPr>
          <p:cNvCxnSpPr>
            <a:cxnSpLocks/>
          </p:cNvCxnSpPr>
          <p:nvPr/>
        </p:nvCxnSpPr>
        <p:spPr>
          <a:xfrm>
            <a:off x="3088275" y="2316122"/>
            <a:ext cx="0" cy="4471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78F7ABED-D343-1855-CF8A-9C68B32FD21C}"/>
              </a:ext>
            </a:extLst>
          </p:cNvPr>
          <p:cNvCxnSpPr>
            <a:cxnSpLocks/>
          </p:cNvCxnSpPr>
          <p:nvPr/>
        </p:nvCxnSpPr>
        <p:spPr>
          <a:xfrm>
            <a:off x="4181440" y="4172102"/>
            <a:ext cx="0" cy="1369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6F65468-3DC1-686B-72E7-E0C29B9EE238}"/>
              </a:ext>
            </a:extLst>
          </p:cNvPr>
          <p:cNvCxnSpPr>
            <a:cxnSpLocks/>
          </p:cNvCxnSpPr>
          <p:nvPr/>
        </p:nvCxnSpPr>
        <p:spPr>
          <a:xfrm flipH="1">
            <a:off x="2027616" y="4522215"/>
            <a:ext cx="3091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orme libre : forme 89">
            <a:extLst>
              <a:ext uri="{FF2B5EF4-FFF2-40B4-BE49-F238E27FC236}">
                <a16:creationId xmlns:a16="http://schemas.microsoft.com/office/drawing/2014/main" id="{A096BC1B-3139-3B87-A27B-EA4C5512B729}"/>
              </a:ext>
            </a:extLst>
          </p:cNvPr>
          <p:cNvSpPr/>
          <p:nvPr/>
        </p:nvSpPr>
        <p:spPr>
          <a:xfrm>
            <a:off x="496114" y="4294640"/>
            <a:ext cx="2302947" cy="951072"/>
          </a:xfrm>
          <a:custGeom>
            <a:avLst/>
            <a:gdLst>
              <a:gd name="connsiteX0" fmla="*/ 0 w 2115772"/>
              <a:gd name="connsiteY0" fmla="*/ 0 h 536268"/>
              <a:gd name="connsiteX1" fmla="*/ 2115772 w 2115772"/>
              <a:gd name="connsiteY1" fmla="*/ 0 h 536268"/>
              <a:gd name="connsiteX2" fmla="*/ 2115772 w 2115772"/>
              <a:gd name="connsiteY2" fmla="*/ 536268 h 536268"/>
              <a:gd name="connsiteX3" fmla="*/ 0 w 2115772"/>
              <a:gd name="connsiteY3" fmla="*/ 536268 h 536268"/>
              <a:gd name="connsiteX4" fmla="*/ 0 w 2115772"/>
              <a:gd name="connsiteY4" fmla="*/ 0 h 53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72" h="536268">
                <a:moveTo>
                  <a:pt x="0" y="0"/>
                </a:moveTo>
                <a:lnTo>
                  <a:pt x="2115772" y="0"/>
                </a:lnTo>
                <a:lnTo>
                  <a:pt x="2115772" y="536268"/>
                </a:lnTo>
                <a:lnTo>
                  <a:pt x="0" y="53626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algn="ctr" defTabSz="444500" hangingPunct="1">
              <a:spcBef>
                <a:spcPct val="0"/>
              </a:spcBef>
            </a:pPr>
            <a:endParaRPr lang="fr-FR" sz="1300" b="1" kern="1200" dirty="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444500" hangingPunct="1">
              <a:spcBef>
                <a:spcPct val="0"/>
              </a:spcBef>
            </a:pPr>
            <a:r>
              <a:rPr lang="fr-FR" sz="1300" b="1" kern="1200" dirty="0">
                <a:solidFill>
                  <a:sysClr val="windowText" lastClr="000000"/>
                </a:solidFill>
                <a:latin typeface="Calibri" panose="020F0502020204030204"/>
              </a:rPr>
              <a:t>Chef de projet </a:t>
            </a:r>
          </a:p>
          <a:p>
            <a:pPr algn="ctr" defTabSz="444500" hangingPunct="1">
              <a:spcBef>
                <a:spcPct val="0"/>
              </a:spcBef>
            </a:pPr>
            <a:r>
              <a:rPr lang="fr-FR" sz="1300" b="1" kern="1200" dirty="0">
                <a:solidFill>
                  <a:sysClr val="windowText" lastClr="000000"/>
                </a:solidFill>
                <a:latin typeface="Calibri" panose="020F0502020204030204"/>
              </a:rPr>
              <a:t>Applications Métiers</a:t>
            </a:r>
          </a:p>
          <a:p>
            <a:pPr algn="ctr" defTabSz="444500" hangingPunct="1">
              <a:spcBef>
                <a:spcPct val="0"/>
              </a:spcBef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Gregory MORELLI</a:t>
            </a:r>
          </a:p>
          <a:p>
            <a:pPr algn="ctr" defTabSz="444500" hangingPunct="1">
              <a:spcBef>
                <a:spcPct val="0"/>
              </a:spcBef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Contractuel (A)</a:t>
            </a:r>
          </a:p>
          <a:p>
            <a:pPr algn="ctr" defTabSz="444500" hangingPunct="1">
              <a:spcBef>
                <a:spcPct val="0"/>
              </a:spcBef>
            </a:pPr>
            <a:endParaRPr lang="fr-FR" sz="1300" b="1" kern="1200" dirty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13" name="Forme libre : forme 90">
            <a:extLst>
              <a:ext uri="{FF2B5EF4-FFF2-40B4-BE49-F238E27FC236}">
                <a16:creationId xmlns:a16="http://schemas.microsoft.com/office/drawing/2014/main" id="{6A02B8B4-81C0-A0F5-2AA4-CAE1334948D8}"/>
              </a:ext>
            </a:extLst>
          </p:cNvPr>
          <p:cNvSpPr/>
          <p:nvPr/>
        </p:nvSpPr>
        <p:spPr>
          <a:xfrm>
            <a:off x="9882318" y="6202146"/>
            <a:ext cx="2310734" cy="657743"/>
          </a:xfrm>
          <a:custGeom>
            <a:avLst/>
            <a:gdLst>
              <a:gd name="connsiteX0" fmla="*/ 0 w 1525616"/>
              <a:gd name="connsiteY0" fmla="*/ 0 h 459786"/>
              <a:gd name="connsiteX1" fmla="*/ 1525616 w 1525616"/>
              <a:gd name="connsiteY1" fmla="*/ 0 h 459786"/>
              <a:gd name="connsiteX2" fmla="*/ 1525616 w 1525616"/>
              <a:gd name="connsiteY2" fmla="*/ 459786 h 459786"/>
              <a:gd name="connsiteX3" fmla="*/ 0 w 1525616"/>
              <a:gd name="connsiteY3" fmla="*/ 459786 h 459786"/>
              <a:gd name="connsiteX4" fmla="*/ 0 w 1525616"/>
              <a:gd name="connsiteY4" fmla="*/ 0 h 45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616" h="459786">
                <a:moveTo>
                  <a:pt x="0" y="0"/>
                </a:moveTo>
                <a:lnTo>
                  <a:pt x="1525616" y="0"/>
                </a:lnTo>
                <a:lnTo>
                  <a:pt x="1525616" y="459786"/>
                </a:lnTo>
                <a:lnTo>
                  <a:pt x="0" y="459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Technicien SIG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Andreas THEOTEC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Contractuel (B)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0DE8D831-8EC7-5C65-4A07-04572494F476}"/>
              </a:ext>
            </a:extLst>
          </p:cNvPr>
          <p:cNvSpPr/>
          <p:nvPr/>
        </p:nvSpPr>
        <p:spPr>
          <a:xfrm>
            <a:off x="9127666" y="2620416"/>
            <a:ext cx="2777380" cy="446490"/>
          </a:xfrm>
          <a:custGeom>
            <a:avLst/>
            <a:gdLst>
              <a:gd name="connsiteX0" fmla="*/ 0 w 2115772"/>
              <a:gd name="connsiteY0" fmla="*/ 0 h 536268"/>
              <a:gd name="connsiteX1" fmla="*/ 2115772 w 2115772"/>
              <a:gd name="connsiteY1" fmla="*/ 0 h 536268"/>
              <a:gd name="connsiteX2" fmla="*/ 2115772 w 2115772"/>
              <a:gd name="connsiteY2" fmla="*/ 536268 h 536268"/>
              <a:gd name="connsiteX3" fmla="*/ 0 w 2115772"/>
              <a:gd name="connsiteY3" fmla="*/ 536268 h 536268"/>
              <a:gd name="connsiteX4" fmla="*/ 0 w 2115772"/>
              <a:gd name="connsiteY4" fmla="*/ 0 h 53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72" h="536268">
                <a:moveTo>
                  <a:pt x="0" y="0"/>
                </a:moveTo>
                <a:lnTo>
                  <a:pt x="2115772" y="0"/>
                </a:lnTo>
                <a:lnTo>
                  <a:pt x="2115772" y="536268"/>
                </a:lnTo>
                <a:lnTo>
                  <a:pt x="0" y="5362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</a:t>
            </a:r>
          </a:p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d’Information Géographique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78814C4-576B-4B31-6EE8-A017E062CBBC}"/>
              </a:ext>
            </a:extLst>
          </p:cNvPr>
          <p:cNvCxnSpPr>
            <a:cxnSpLocks/>
          </p:cNvCxnSpPr>
          <p:nvPr/>
        </p:nvCxnSpPr>
        <p:spPr>
          <a:xfrm>
            <a:off x="3088274" y="2619679"/>
            <a:ext cx="0" cy="15115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AA326150-67BB-7BF6-8F09-CFF9A1D6D3B1}"/>
              </a:ext>
            </a:extLst>
          </p:cNvPr>
          <p:cNvSpPr/>
          <p:nvPr/>
        </p:nvSpPr>
        <p:spPr>
          <a:xfrm>
            <a:off x="1705399" y="2598951"/>
            <a:ext cx="2777380" cy="446490"/>
          </a:xfrm>
          <a:custGeom>
            <a:avLst/>
            <a:gdLst>
              <a:gd name="connsiteX0" fmla="*/ 0 w 2115772"/>
              <a:gd name="connsiteY0" fmla="*/ 0 h 536268"/>
              <a:gd name="connsiteX1" fmla="*/ 2115772 w 2115772"/>
              <a:gd name="connsiteY1" fmla="*/ 0 h 536268"/>
              <a:gd name="connsiteX2" fmla="*/ 2115772 w 2115772"/>
              <a:gd name="connsiteY2" fmla="*/ 536268 h 536268"/>
              <a:gd name="connsiteX3" fmla="*/ 0 w 2115772"/>
              <a:gd name="connsiteY3" fmla="*/ 536268 h 536268"/>
              <a:gd name="connsiteX4" fmla="*/ 0 w 2115772"/>
              <a:gd name="connsiteY4" fmla="*/ 0 h 53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72" h="536268">
                <a:moveTo>
                  <a:pt x="0" y="0"/>
                </a:moveTo>
                <a:lnTo>
                  <a:pt x="2115772" y="0"/>
                </a:lnTo>
                <a:lnTo>
                  <a:pt x="2115772" y="536268"/>
                </a:lnTo>
                <a:lnTo>
                  <a:pt x="0" y="5362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</a:t>
            </a:r>
          </a:p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Projets et Infrastructure Numérique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D2D533DB-C250-3DF2-B61D-9A9B0F5BCDF2}"/>
              </a:ext>
            </a:extLst>
          </p:cNvPr>
          <p:cNvSpPr/>
          <p:nvPr/>
        </p:nvSpPr>
        <p:spPr>
          <a:xfrm>
            <a:off x="1705399" y="3172073"/>
            <a:ext cx="2777379" cy="1000029"/>
          </a:xfrm>
          <a:custGeom>
            <a:avLst/>
            <a:gdLst>
              <a:gd name="connsiteX0" fmla="*/ 0 w 2115772"/>
              <a:gd name="connsiteY0" fmla="*/ 0 h 536268"/>
              <a:gd name="connsiteX1" fmla="*/ 2115772 w 2115772"/>
              <a:gd name="connsiteY1" fmla="*/ 0 h 536268"/>
              <a:gd name="connsiteX2" fmla="*/ 2115772 w 2115772"/>
              <a:gd name="connsiteY2" fmla="*/ 536268 h 536268"/>
              <a:gd name="connsiteX3" fmla="*/ 0 w 2115772"/>
              <a:gd name="connsiteY3" fmla="*/ 536268 h 536268"/>
              <a:gd name="connsiteX4" fmla="*/ 0 w 2115772"/>
              <a:gd name="connsiteY4" fmla="*/ 0 h 53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72" h="536268">
                <a:moveTo>
                  <a:pt x="0" y="0"/>
                </a:moveTo>
                <a:lnTo>
                  <a:pt x="2115772" y="0"/>
                </a:lnTo>
                <a:lnTo>
                  <a:pt x="2115772" y="536268"/>
                </a:lnTo>
                <a:lnTo>
                  <a:pt x="0" y="536268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4450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b="1" kern="1200" dirty="0">
                <a:solidFill>
                  <a:prstClr val="black"/>
                </a:solidFill>
                <a:latin typeface="Calibri" panose="020F0502020204030204"/>
              </a:rPr>
              <a:t>Chef du service </a:t>
            </a:r>
          </a:p>
          <a:p>
            <a:pPr algn="ctr" defTabSz="44450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b="1" kern="1200" dirty="0">
                <a:solidFill>
                  <a:prstClr val="black"/>
                </a:solidFill>
                <a:latin typeface="Calibri" panose="020F0502020204030204"/>
              </a:rPr>
              <a:t>Projets et Infrastructure Numérique</a:t>
            </a:r>
          </a:p>
          <a:p>
            <a:pPr algn="ctr" defTabSz="44450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kern="12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Recrutement pour le 1</a:t>
            </a:r>
            <a:r>
              <a:rPr lang="fr-FR" sz="1300" kern="1200" baseline="300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er</a:t>
            </a:r>
            <a:r>
              <a:rPr lang="fr-FR" sz="1300" kern="12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 janvier 2026</a:t>
            </a:r>
          </a:p>
          <a:p>
            <a:pPr algn="ctr" defTabSz="44450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kern="1200" dirty="0">
                <a:solidFill>
                  <a:prstClr val="black"/>
                </a:solidFill>
                <a:latin typeface="Calibri" panose="020F0502020204030204"/>
              </a:rPr>
              <a:t>Contractuel (A)</a:t>
            </a: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50DEAEB8-6E85-113A-567B-6D495274B83A}"/>
              </a:ext>
            </a:extLst>
          </p:cNvPr>
          <p:cNvSpPr/>
          <p:nvPr/>
        </p:nvSpPr>
        <p:spPr>
          <a:xfrm>
            <a:off x="9127665" y="3300351"/>
            <a:ext cx="2777379" cy="1000029"/>
          </a:xfrm>
          <a:custGeom>
            <a:avLst/>
            <a:gdLst>
              <a:gd name="connsiteX0" fmla="*/ 0 w 2115772"/>
              <a:gd name="connsiteY0" fmla="*/ 0 h 536268"/>
              <a:gd name="connsiteX1" fmla="*/ 2115772 w 2115772"/>
              <a:gd name="connsiteY1" fmla="*/ 0 h 536268"/>
              <a:gd name="connsiteX2" fmla="*/ 2115772 w 2115772"/>
              <a:gd name="connsiteY2" fmla="*/ 536268 h 536268"/>
              <a:gd name="connsiteX3" fmla="*/ 0 w 2115772"/>
              <a:gd name="connsiteY3" fmla="*/ 536268 h 536268"/>
              <a:gd name="connsiteX4" fmla="*/ 0 w 2115772"/>
              <a:gd name="connsiteY4" fmla="*/ 0 h 53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72" h="536268">
                <a:moveTo>
                  <a:pt x="0" y="0"/>
                </a:moveTo>
                <a:lnTo>
                  <a:pt x="2115772" y="0"/>
                </a:lnTo>
                <a:lnTo>
                  <a:pt x="2115772" y="536268"/>
                </a:lnTo>
                <a:lnTo>
                  <a:pt x="0" y="536268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4450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b="1" kern="1200" dirty="0">
                <a:solidFill>
                  <a:prstClr val="black"/>
                </a:solidFill>
                <a:latin typeface="Calibri" panose="020F0502020204030204"/>
              </a:rPr>
              <a:t>Chef du service </a:t>
            </a:r>
          </a:p>
          <a:p>
            <a:pPr algn="ctr" defTabSz="44450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b="1" kern="1200" dirty="0">
                <a:solidFill>
                  <a:prstClr val="black"/>
                </a:solidFill>
                <a:latin typeface="Calibri" panose="020F0502020204030204"/>
              </a:rPr>
              <a:t>Système d’Information Géographique</a:t>
            </a:r>
          </a:p>
          <a:p>
            <a:pPr algn="ctr" defTabSz="44450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kern="1200" dirty="0">
                <a:solidFill>
                  <a:prstClr val="black"/>
                </a:solidFill>
                <a:latin typeface="Calibri" panose="020F0502020204030204"/>
              </a:rPr>
              <a:t>Christophe BRUN</a:t>
            </a:r>
          </a:p>
          <a:p>
            <a:pPr algn="ctr" defTabSz="44450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kern="1200" dirty="0">
                <a:solidFill>
                  <a:prstClr val="black"/>
                </a:solidFill>
                <a:latin typeface="Calibri" panose="020F0502020204030204"/>
              </a:rPr>
              <a:t>Titulaire (A)</a:t>
            </a:r>
          </a:p>
        </p:txBody>
      </p:sp>
      <p:sp>
        <p:nvSpPr>
          <p:cNvPr id="19" name="Forme libre : forme 90">
            <a:extLst>
              <a:ext uri="{FF2B5EF4-FFF2-40B4-BE49-F238E27FC236}">
                <a16:creationId xmlns:a16="http://schemas.microsoft.com/office/drawing/2014/main" id="{FF6587CB-88A5-0469-2108-2F54ED1CB203}"/>
              </a:ext>
            </a:extLst>
          </p:cNvPr>
          <p:cNvSpPr/>
          <p:nvPr/>
        </p:nvSpPr>
        <p:spPr>
          <a:xfrm>
            <a:off x="9882318" y="4674939"/>
            <a:ext cx="2310734" cy="657743"/>
          </a:xfrm>
          <a:custGeom>
            <a:avLst/>
            <a:gdLst>
              <a:gd name="connsiteX0" fmla="*/ 0 w 1525616"/>
              <a:gd name="connsiteY0" fmla="*/ 0 h 459786"/>
              <a:gd name="connsiteX1" fmla="*/ 1525616 w 1525616"/>
              <a:gd name="connsiteY1" fmla="*/ 0 h 459786"/>
              <a:gd name="connsiteX2" fmla="*/ 1525616 w 1525616"/>
              <a:gd name="connsiteY2" fmla="*/ 459786 h 459786"/>
              <a:gd name="connsiteX3" fmla="*/ 0 w 1525616"/>
              <a:gd name="connsiteY3" fmla="*/ 459786 h 459786"/>
              <a:gd name="connsiteX4" fmla="*/ 0 w 1525616"/>
              <a:gd name="connsiteY4" fmla="*/ 0 h 45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616" h="459786">
                <a:moveTo>
                  <a:pt x="0" y="0"/>
                </a:moveTo>
                <a:lnTo>
                  <a:pt x="1525616" y="0"/>
                </a:lnTo>
                <a:lnTo>
                  <a:pt x="1525616" y="459786"/>
                </a:lnTo>
                <a:lnTo>
                  <a:pt x="0" y="459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Technicien</a:t>
            </a:r>
            <a:r>
              <a:rPr lang="fr-FR" sz="1300" b="1" kern="1200" dirty="0">
                <a:solidFill>
                  <a:sysClr val="windowText" lastClr="000000"/>
                </a:solidFill>
                <a:latin typeface="Calibri" panose="020F0502020204030204"/>
              </a:rPr>
              <a:t>ne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SIG Assainissement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Elise BAHUS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Titulaire (B)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A17B8203-0B64-5635-45DD-B4A60EB2F0A6}"/>
              </a:ext>
            </a:extLst>
          </p:cNvPr>
          <p:cNvCxnSpPr>
            <a:cxnSpLocks/>
          </p:cNvCxnSpPr>
          <p:nvPr/>
        </p:nvCxnSpPr>
        <p:spPr>
          <a:xfrm flipH="1">
            <a:off x="9573218" y="4828165"/>
            <a:ext cx="3091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orme libre : forme 90">
            <a:extLst>
              <a:ext uri="{FF2B5EF4-FFF2-40B4-BE49-F238E27FC236}">
                <a16:creationId xmlns:a16="http://schemas.microsoft.com/office/drawing/2014/main" id="{33E53379-6E86-E930-C9CD-7F47291BC4DC}"/>
              </a:ext>
            </a:extLst>
          </p:cNvPr>
          <p:cNvSpPr/>
          <p:nvPr/>
        </p:nvSpPr>
        <p:spPr>
          <a:xfrm>
            <a:off x="9882318" y="5460007"/>
            <a:ext cx="2310734" cy="657743"/>
          </a:xfrm>
          <a:custGeom>
            <a:avLst/>
            <a:gdLst>
              <a:gd name="connsiteX0" fmla="*/ 0 w 1525616"/>
              <a:gd name="connsiteY0" fmla="*/ 0 h 459786"/>
              <a:gd name="connsiteX1" fmla="*/ 1525616 w 1525616"/>
              <a:gd name="connsiteY1" fmla="*/ 0 h 459786"/>
              <a:gd name="connsiteX2" fmla="*/ 1525616 w 1525616"/>
              <a:gd name="connsiteY2" fmla="*/ 459786 h 459786"/>
              <a:gd name="connsiteX3" fmla="*/ 0 w 1525616"/>
              <a:gd name="connsiteY3" fmla="*/ 459786 h 459786"/>
              <a:gd name="connsiteX4" fmla="*/ 0 w 1525616"/>
              <a:gd name="connsiteY4" fmla="*/ 0 h 45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616" h="459786">
                <a:moveTo>
                  <a:pt x="0" y="0"/>
                </a:moveTo>
                <a:lnTo>
                  <a:pt x="1525616" y="0"/>
                </a:lnTo>
                <a:lnTo>
                  <a:pt x="1525616" y="459786"/>
                </a:lnTo>
                <a:lnTo>
                  <a:pt x="0" y="459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Technicien SIG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Cyril LY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Titulaire (B)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92C76951-956C-83DD-6225-7CCBBE58622F}"/>
              </a:ext>
            </a:extLst>
          </p:cNvPr>
          <p:cNvCxnSpPr>
            <a:cxnSpLocks/>
          </p:cNvCxnSpPr>
          <p:nvPr/>
        </p:nvCxnSpPr>
        <p:spPr>
          <a:xfrm flipH="1">
            <a:off x="9551753" y="4305468"/>
            <a:ext cx="1" cy="22198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A7E39DB-E717-B12E-B639-3991FD80DF86}"/>
              </a:ext>
            </a:extLst>
          </p:cNvPr>
          <p:cNvCxnSpPr>
            <a:cxnSpLocks/>
          </p:cNvCxnSpPr>
          <p:nvPr/>
        </p:nvCxnSpPr>
        <p:spPr>
          <a:xfrm flipH="1">
            <a:off x="9573218" y="5774219"/>
            <a:ext cx="3091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67B4C29D-51FE-CC97-8EEA-9297BABC3FC6}"/>
              </a:ext>
            </a:extLst>
          </p:cNvPr>
          <p:cNvCxnSpPr>
            <a:cxnSpLocks/>
          </p:cNvCxnSpPr>
          <p:nvPr/>
        </p:nvCxnSpPr>
        <p:spPr>
          <a:xfrm flipH="1">
            <a:off x="9573218" y="6526946"/>
            <a:ext cx="3091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DD4028B-3925-7FA3-5042-FD47EB0707DC}"/>
              </a:ext>
            </a:extLst>
          </p:cNvPr>
          <p:cNvCxnSpPr>
            <a:cxnSpLocks/>
          </p:cNvCxnSpPr>
          <p:nvPr/>
        </p:nvCxnSpPr>
        <p:spPr>
          <a:xfrm>
            <a:off x="6703480" y="2118559"/>
            <a:ext cx="0" cy="18629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24E8872-7169-6243-D7F7-BBD35A2B2F8F}"/>
              </a:ext>
            </a:extLst>
          </p:cNvPr>
          <p:cNvSpPr/>
          <p:nvPr/>
        </p:nvSpPr>
        <p:spPr>
          <a:xfrm>
            <a:off x="9519959" y="1165174"/>
            <a:ext cx="1787236" cy="999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algn="ctr" defTabSz="444500" hangingPunct="1">
              <a:spcBef>
                <a:spcPct val="0"/>
              </a:spcBef>
            </a:pPr>
            <a:endParaRPr lang="fr-FR" sz="1300" b="1" kern="1200" dirty="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444500" hangingPunct="1">
              <a:spcBef>
                <a:spcPct val="0"/>
              </a:spcBef>
            </a:pPr>
            <a:r>
              <a:rPr lang="fr-FR" sz="1300" b="1" kern="1200" dirty="0">
                <a:solidFill>
                  <a:sysClr val="windowText" lastClr="000000"/>
                </a:solidFill>
                <a:latin typeface="Calibri" panose="020F0502020204030204"/>
              </a:rPr>
              <a:t>Cheffe de projet RGPD</a:t>
            </a:r>
          </a:p>
          <a:p>
            <a:pPr algn="ctr" defTabSz="444500" hangingPunct="1">
              <a:spcBef>
                <a:spcPct val="0"/>
              </a:spcBef>
            </a:pPr>
            <a:r>
              <a:rPr lang="fr-FR" sz="1300" b="1" kern="1200" dirty="0">
                <a:solidFill>
                  <a:prstClr val="black"/>
                </a:solidFill>
              </a:rPr>
              <a:t>DPO Mutualisée</a:t>
            </a:r>
            <a:endParaRPr lang="fr-FR" sz="1300" b="1" kern="1200" dirty="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444500" hangingPunct="1">
              <a:spcBef>
                <a:spcPct val="0"/>
              </a:spcBef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Ghita SAID </a:t>
            </a:r>
          </a:p>
          <a:p>
            <a:pPr algn="ctr" defTabSz="444500" hangingPunct="1">
              <a:spcBef>
                <a:spcPct val="0"/>
              </a:spcBef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Contractuel (A)</a:t>
            </a:r>
          </a:p>
          <a:p>
            <a:pPr algn="ctr" defTabSz="444500" hangingPunct="1">
              <a:spcBef>
                <a:spcPct val="0"/>
              </a:spcBef>
            </a:pPr>
            <a:endParaRPr lang="fr-FR" sz="1300" b="1" kern="1200" dirty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2E21CB13-2A10-B2DF-50C1-548F9B19C65A}"/>
              </a:ext>
            </a:extLst>
          </p:cNvPr>
          <p:cNvCxnSpPr/>
          <p:nvPr/>
        </p:nvCxnSpPr>
        <p:spPr>
          <a:xfrm>
            <a:off x="8222091" y="1659489"/>
            <a:ext cx="127244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rme libre : forme 90">
            <a:extLst>
              <a:ext uri="{FF2B5EF4-FFF2-40B4-BE49-F238E27FC236}">
                <a16:creationId xmlns:a16="http://schemas.microsoft.com/office/drawing/2014/main" id="{31A1A68D-3A40-E86B-AA45-6164775557B5}"/>
              </a:ext>
            </a:extLst>
          </p:cNvPr>
          <p:cNvSpPr/>
          <p:nvPr/>
        </p:nvSpPr>
        <p:spPr>
          <a:xfrm>
            <a:off x="4518765" y="5418836"/>
            <a:ext cx="2446807" cy="657743"/>
          </a:xfrm>
          <a:custGeom>
            <a:avLst/>
            <a:gdLst>
              <a:gd name="connsiteX0" fmla="*/ 0 w 1525616"/>
              <a:gd name="connsiteY0" fmla="*/ 0 h 459786"/>
              <a:gd name="connsiteX1" fmla="*/ 1525616 w 1525616"/>
              <a:gd name="connsiteY1" fmla="*/ 0 h 459786"/>
              <a:gd name="connsiteX2" fmla="*/ 1525616 w 1525616"/>
              <a:gd name="connsiteY2" fmla="*/ 459786 h 459786"/>
              <a:gd name="connsiteX3" fmla="*/ 0 w 1525616"/>
              <a:gd name="connsiteY3" fmla="*/ 459786 h 459786"/>
              <a:gd name="connsiteX4" fmla="*/ 0 w 1525616"/>
              <a:gd name="connsiteY4" fmla="*/ 0 h 45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616" h="459786">
                <a:moveTo>
                  <a:pt x="0" y="0"/>
                </a:moveTo>
                <a:lnTo>
                  <a:pt x="1525616" y="0"/>
                </a:lnTo>
                <a:lnTo>
                  <a:pt x="1525616" y="459786"/>
                </a:lnTo>
                <a:lnTo>
                  <a:pt x="0" y="459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Technicien Informatique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kern="12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Calibri" panose="020F0502020204030204"/>
              </a:rPr>
              <a:t>Recrutement pour le 1</a:t>
            </a:r>
            <a:r>
              <a:rPr lang="fr-FR" sz="1300" kern="1200" baseline="300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Calibri" panose="020F0502020204030204"/>
              </a:rPr>
              <a:t>er</a:t>
            </a:r>
            <a:r>
              <a:rPr lang="fr-FR" sz="1300" kern="1200" dirty="0">
                <a:solidFill>
                  <a:sysClr val="windowText" lastClr="000000"/>
                </a:solidFill>
                <a:highlight>
                  <a:srgbClr val="FFFF00"/>
                </a:highlight>
                <a:latin typeface="Calibri" panose="020F0502020204030204"/>
              </a:rPr>
              <a:t> Juillet 2026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Titulaire (B)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D87ABE6C-A155-AE5B-437A-493945010F1E}"/>
              </a:ext>
            </a:extLst>
          </p:cNvPr>
          <p:cNvCxnSpPr>
            <a:cxnSpLocks/>
          </p:cNvCxnSpPr>
          <p:nvPr/>
        </p:nvCxnSpPr>
        <p:spPr>
          <a:xfrm flipH="1">
            <a:off x="4188192" y="5717466"/>
            <a:ext cx="3091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20E9D7E-03F8-C2F3-A357-0A9D090E67D2}"/>
              </a:ext>
            </a:extLst>
          </p:cNvPr>
          <p:cNvCxnSpPr>
            <a:cxnSpLocks/>
          </p:cNvCxnSpPr>
          <p:nvPr/>
        </p:nvCxnSpPr>
        <p:spPr>
          <a:xfrm>
            <a:off x="4181440" y="5264660"/>
            <a:ext cx="6752" cy="119899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56477C20-2136-88C3-7FA0-AB5B9C281812}"/>
              </a:ext>
            </a:extLst>
          </p:cNvPr>
          <p:cNvCxnSpPr>
            <a:cxnSpLocks/>
          </p:cNvCxnSpPr>
          <p:nvPr/>
        </p:nvCxnSpPr>
        <p:spPr>
          <a:xfrm flipH="1">
            <a:off x="4188192" y="6463654"/>
            <a:ext cx="3091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F5AB1E5-3AED-D42B-1447-005FBC08F45D}"/>
              </a:ext>
            </a:extLst>
          </p:cNvPr>
          <p:cNvCxnSpPr>
            <a:cxnSpLocks/>
          </p:cNvCxnSpPr>
          <p:nvPr/>
        </p:nvCxnSpPr>
        <p:spPr>
          <a:xfrm>
            <a:off x="2048244" y="4157704"/>
            <a:ext cx="0" cy="1369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Forme libre : forme 90">
            <a:extLst>
              <a:ext uri="{FF2B5EF4-FFF2-40B4-BE49-F238E27FC236}">
                <a16:creationId xmlns:a16="http://schemas.microsoft.com/office/drawing/2014/main" id="{DD16627F-C4C7-5CC3-021D-10F7373A2707}"/>
              </a:ext>
            </a:extLst>
          </p:cNvPr>
          <p:cNvSpPr/>
          <p:nvPr/>
        </p:nvSpPr>
        <p:spPr>
          <a:xfrm>
            <a:off x="4518764" y="6148987"/>
            <a:ext cx="2446803" cy="657743"/>
          </a:xfrm>
          <a:custGeom>
            <a:avLst/>
            <a:gdLst>
              <a:gd name="connsiteX0" fmla="*/ 0 w 1525616"/>
              <a:gd name="connsiteY0" fmla="*/ 0 h 459786"/>
              <a:gd name="connsiteX1" fmla="*/ 1525616 w 1525616"/>
              <a:gd name="connsiteY1" fmla="*/ 0 h 459786"/>
              <a:gd name="connsiteX2" fmla="*/ 1525616 w 1525616"/>
              <a:gd name="connsiteY2" fmla="*/ 459786 h 459786"/>
              <a:gd name="connsiteX3" fmla="*/ 0 w 1525616"/>
              <a:gd name="connsiteY3" fmla="*/ 459786 h 459786"/>
              <a:gd name="connsiteX4" fmla="*/ 0 w 1525616"/>
              <a:gd name="connsiteY4" fmla="*/ 0 h 45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616" h="459786">
                <a:moveTo>
                  <a:pt x="0" y="0"/>
                </a:moveTo>
                <a:lnTo>
                  <a:pt x="1525616" y="0"/>
                </a:lnTo>
                <a:lnTo>
                  <a:pt x="1525616" y="459786"/>
                </a:lnTo>
                <a:lnTo>
                  <a:pt x="0" y="459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Alternant Informatique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kern="1200" dirty="0">
                <a:solidFill>
                  <a:sysClr val="windowText" lastClr="000000"/>
                </a:solidFill>
                <a:latin typeface="Calibri" panose="020F0502020204030204"/>
              </a:rPr>
              <a:t>Marwan HASSAINI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Forme libre : forme 90">
            <a:extLst>
              <a:ext uri="{FF2B5EF4-FFF2-40B4-BE49-F238E27FC236}">
                <a16:creationId xmlns:a16="http://schemas.microsoft.com/office/drawing/2014/main" id="{7D71C125-C381-0E72-E5E3-91A8602DB549}"/>
              </a:ext>
            </a:extLst>
          </p:cNvPr>
          <p:cNvSpPr/>
          <p:nvPr/>
        </p:nvSpPr>
        <p:spPr>
          <a:xfrm>
            <a:off x="6673332" y="4460290"/>
            <a:ext cx="2310734" cy="657743"/>
          </a:xfrm>
          <a:custGeom>
            <a:avLst/>
            <a:gdLst>
              <a:gd name="connsiteX0" fmla="*/ 0 w 1525616"/>
              <a:gd name="connsiteY0" fmla="*/ 0 h 459786"/>
              <a:gd name="connsiteX1" fmla="*/ 1525616 w 1525616"/>
              <a:gd name="connsiteY1" fmla="*/ 0 h 459786"/>
              <a:gd name="connsiteX2" fmla="*/ 1525616 w 1525616"/>
              <a:gd name="connsiteY2" fmla="*/ 459786 h 459786"/>
              <a:gd name="connsiteX3" fmla="*/ 0 w 1525616"/>
              <a:gd name="connsiteY3" fmla="*/ 459786 h 459786"/>
              <a:gd name="connsiteX4" fmla="*/ 0 w 1525616"/>
              <a:gd name="connsiteY4" fmla="*/ 0 h 45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616" h="459786">
                <a:moveTo>
                  <a:pt x="0" y="0"/>
                </a:moveTo>
                <a:lnTo>
                  <a:pt x="1525616" y="0"/>
                </a:lnTo>
                <a:lnTo>
                  <a:pt x="1525616" y="459786"/>
                </a:lnTo>
                <a:lnTo>
                  <a:pt x="0" y="45978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marL="0" marR="0" lvl="0" indent="0" algn="ctr" defTabSz="4445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/>
              <a:defRPr/>
            </a:pPr>
            <a:r>
              <a:rPr lang="fr-FR" sz="1300" b="1">
                <a:solidFill>
                  <a:sysClr val="windowText" lastClr="000000"/>
                </a:solidFill>
                <a:latin typeface="Calibri" panose="020F0502020204030204"/>
              </a:rPr>
              <a:t>Stagiaire</a:t>
            </a:r>
            <a:endParaRPr lang="fr-FR">
              <a:ea typeface="+mn-ea"/>
              <a:cs typeface="+mn-cs"/>
            </a:endParaRPr>
          </a:p>
          <a:p>
            <a:pPr algn="ctr" defTabSz="444500">
              <a:spcBef>
                <a:spcPct val="0"/>
              </a:spcBef>
              <a:defRPr/>
            </a:pPr>
            <a:r>
              <a:rPr lang="fr-FR" sz="1300" dirty="0">
                <a:solidFill>
                  <a:sysClr val="windowText" lastClr="000000"/>
                </a:solidFill>
                <a:latin typeface="Calibri" panose="020F0502020204030204"/>
              </a:rPr>
              <a:t>Ethan </a:t>
            </a:r>
            <a:r>
              <a:rPr lang="fr-FR" sz="1300">
                <a:solidFill>
                  <a:sysClr val="windowText" lastClr="000000"/>
                </a:solidFill>
                <a:latin typeface="Calibri" panose="020F0502020204030204"/>
              </a:rPr>
              <a:t>MARGUERY – DURET </a:t>
            </a:r>
            <a:endParaRPr lang="fr-FR" sz="13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F2CC694-424C-526B-CE4F-253A4FD061DA}"/>
              </a:ext>
            </a:extLst>
          </p:cNvPr>
          <p:cNvCxnSpPr>
            <a:cxnSpLocks/>
          </p:cNvCxnSpPr>
          <p:nvPr/>
        </p:nvCxnSpPr>
        <p:spPr>
          <a:xfrm flipH="1">
            <a:off x="6334671" y="4773015"/>
            <a:ext cx="3091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Thème Office</vt:lpstr>
      <vt:lpstr>Organigramme de la DSI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LEFRANC</dc:creator>
  <cp:lastModifiedBy>Sébastien LEFRANC</cp:lastModifiedBy>
  <cp:revision>42</cp:revision>
  <dcterms:created xsi:type="dcterms:W3CDTF">2026-02-17T15:40:05Z</dcterms:created>
  <dcterms:modified xsi:type="dcterms:W3CDTF">2026-05-05T14:56:53Z</dcterms:modified>
</cp:coreProperties>
</file>